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SemiBold" panose="020B060402020202020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SemiBold" panose="000007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j7huoGCSqDcU7PO1Yh0K+iK6Ed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6FD6EB-C57C-8C53-68A2-970B9763FBE6}" v="502" dt="2026-06-17T00:59:41.417"/>
  </p1510:revLst>
</p1510:revInfo>
</file>

<file path=ppt/tableStyles.xml><?xml version="1.0" encoding="utf-8"?>
<a:tblStyleLst xmlns:a="http://schemas.openxmlformats.org/drawingml/2006/main" def="{83BD5031-42F1-43A0-AFC4-8124C9BB6F01}">
  <a:tblStyle styleId="{83BD5031-42F1-43A0-AFC4-8124C9BB6F0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microsoft.com/office/2015/10/relationships/revisionInfo" Target="revisionInfo.xml"/><Relationship Id="rId21" Type="http://schemas.openxmlformats.org/officeDocument/2006/relationships/font" Target="fonts/font8.fntdata"/><Relationship Id="rId34" Type="http://customschemas.google.com/relationships/presentationmetadata" Target="metadata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7" Type="http://schemas.openxmlformats.org/officeDocument/2006/relationships/theme" Target="theme/theme1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1" name="Google Shape;2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4090987" y="1039820"/>
            <a:ext cx="4010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PROJETO INTEGRADOR - GRUPO 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80348" y="1615021"/>
            <a:ext cx="10431303" cy="2386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0"/>
              <a:buFont typeface="Arial"/>
              <a:buNone/>
            </a:pPr>
            <a:r>
              <a:rPr lang="en-US" sz="5250" b="1" i="0" u="none" strike="noStrike" cap="none" dirty="0" err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Análise</a:t>
            </a:r>
            <a:r>
              <a:rPr lang="en-US" sz="525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5250" b="1" i="0" u="none" strike="noStrike" cap="none" dirty="0" err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previsão</a:t>
            </a:r>
            <a:r>
              <a:rPr lang="en-US" sz="525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5250" b="1" i="0" u="none" strike="noStrike" cap="none" dirty="0" err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cachês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25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5250" b="1" i="0" u="none" strike="noStrike" cap="none" dirty="0" err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artísticos</a:t>
            </a:r>
            <a:r>
              <a:rPr lang="en-US" sz="525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5250" b="1" i="0" u="none" strike="noStrike" cap="none" dirty="0" err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culturais</a:t>
            </a:r>
            <a:endParaRPr lang="en-US" sz="5250" b="1" i="0" u="none" strike="noStrike" cap="none" dirty="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0"/>
              <a:buFont typeface="Arial"/>
              <a:buNone/>
            </a:pPr>
            <a:r>
              <a:rPr lang="en-US" sz="3600" b="1" dirty="0" err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Cidade</a:t>
            </a:r>
            <a:r>
              <a:rPr lang="en-US" sz="3600" b="1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360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São Paulo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81025" y="4382121"/>
            <a:ext cx="110299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Utilizando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Regressão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Linear para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modelar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valores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contratação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artística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mapear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os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limites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preditivos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frente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à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altíssima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variância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do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setor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772025" y="5631694"/>
            <a:ext cx="2648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Pós-Graduação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em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IA • PUC-SP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581025" y="1543050"/>
            <a:ext cx="554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Desafio Histórico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81025" y="2143125"/>
            <a:ext cx="5277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Secretaria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Cultura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São Paulo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realiza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contratações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artistas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diversas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zonas 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regiões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cidade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com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cachês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que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variam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drasticamente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dependendo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do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porte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do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evento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 do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reconhecimento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do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artista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81025" y="4108275"/>
            <a:ext cx="554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472B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</a:t>
            </a:r>
            <a:r>
              <a:rPr lang="en-US" sz="2400" b="0" i="0" u="none" strike="noStrike" cap="none" dirty="0" err="1">
                <a:solidFill>
                  <a:srgbClr val="F472B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</a:t>
            </a:r>
            <a:r>
              <a:rPr lang="en-US" sz="2400" b="0" i="0" u="none" strike="noStrike" cap="none" dirty="0">
                <a:solidFill>
                  <a:srgbClr val="F472B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Central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81025" y="4708350"/>
            <a:ext cx="52770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SzPts val="1500"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Construir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um pipeline de Machine Learning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robusto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prever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o valor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exato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destas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contratações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lang="pt-BR" dirty="0">
              <a:ea typeface="Inter"/>
              <a:sym typeface="Inter"/>
            </a:endParaRPr>
          </a:p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Utilizamos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uma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base de dados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histórica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2017-2026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cruzando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variáveis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fornecedor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região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geográfica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sazonalidade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treinar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preditivo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771525" y="5429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Contexto &amp; 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581025" y="542925"/>
            <a:ext cx="57150" cy="619125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6D504DF-FBAD-46BB-F1FF-42DD48599C42}"/>
              </a:ext>
            </a:extLst>
          </p:cNvPr>
          <p:cNvGrpSpPr/>
          <p:nvPr/>
        </p:nvGrpSpPr>
        <p:grpSpPr>
          <a:xfrm>
            <a:off x="6718385" y="1464896"/>
            <a:ext cx="4900000" cy="4400000"/>
            <a:chOff x="6650000" y="1543050"/>
            <a:chExt cx="4900000" cy="4400000"/>
          </a:xfrm>
        </p:grpSpPr>
        <p:sp>
          <p:nvSpPr>
            <p:cNvPr id="200" name="Stats Panel"/>
            <p:cNvSpPr/>
            <p:nvPr/>
          </p:nvSpPr>
          <p:spPr>
            <a:xfrm>
              <a:off x="6650000" y="1543050"/>
              <a:ext cx="4900000" cy="4400000"/>
            </a:xfrm>
            <a:prstGeom prst="roundRect">
              <a:avLst>
                <a:gd name="adj" fmla="val 5000"/>
              </a:avLst>
            </a:prstGeom>
            <a:solidFill>
              <a:srgbClr val="1E293B"/>
            </a:solidFill>
            <a:ln w="12700">
              <a:solidFill>
                <a:srgbClr val="334155"/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/>
              <a:endParaRPr sz="1400" b="0" i="0">
                <a:solidFill>
                  <a:srgbClr val="1E293B"/>
                </a:solidFill>
                <a:latin typeface="Inter"/>
              </a:endParaRPr>
            </a:p>
          </p:txBody>
        </p:sp>
        <p:sp>
          <p:nvSpPr>
            <p:cNvPr id="201" name="Stats Accent Bar"/>
            <p:cNvSpPr/>
            <p:nvPr/>
          </p:nvSpPr>
          <p:spPr>
            <a:xfrm>
              <a:off x="6950000" y="1843050"/>
              <a:ext cx="45000" cy="400000"/>
            </a:xfrm>
            <a:prstGeom prst="rect">
              <a:avLst/>
            </a:prstGeom>
            <a:solidFill>
              <a:srgbClr val="F472B6"/>
            </a:solidFill>
            <a:ln>
              <a:noFill/>
            </a:ln>
          </p:spPr>
          <p:txBody>
            <a:bodyPr spcFirstLastPara="1" wrap="square" lIns="0" tIns="0" rIns="0" bIns="0" anchor="ctr"/>
            <a:lstStyle/>
            <a:p>
              <a:pPr algn="ctr"/>
              <a:endParaRPr sz="1400">
                <a:solidFill>
                  <a:srgbClr val="F472B6"/>
                </a:solidFill>
              </a:endParaRPr>
            </a:p>
          </p:txBody>
        </p:sp>
        <p:sp>
          <p:nvSpPr>
            <p:cNvPr id="202" name="Stats Title"/>
            <p:cNvSpPr txBox="1"/>
            <p:nvPr/>
          </p:nvSpPr>
          <p:spPr>
            <a:xfrm>
              <a:off x="7110000" y="1843050"/>
              <a:ext cx="429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buNone/>
              </a:pPr>
              <a:r>
                <a:rPr lang="pt-BR" sz="2000" b="0" i="0" u="none" strike="noStrike" cap="none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Números do Projeto</a:t>
              </a:r>
              <a:endParaRPr sz="2000">
                <a:solidFill>
                  <a:srgbClr val="F8FAFC"/>
                </a:solidFill>
                <a:latin typeface="Poppins SemiBold"/>
              </a:endParaRPr>
            </a:p>
          </p:txBody>
        </p:sp>
        <p:sp>
          <p:nvSpPr>
            <p:cNvPr id="203" name="Stat 1"/>
            <p:cNvSpPr txBox="1"/>
            <p:nvPr/>
          </p:nvSpPr>
          <p:spPr>
            <a:xfrm>
              <a:off x="6950000" y="2480000"/>
              <a:ext cx="4350000" cy="7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buNone/>
              </a:pPr>
              <a:r>
                <a:rPr lang="pt-BR" sz="2800" b="0" i="0" u="none" strike="noStrike" cap="none">
                  <a:solidFill>
                    <a:srgbClr val="38BDF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15.000</a:t>
              </a:r>
            </a:p>
            <a:p>
              <a:pPr marL="0" marR="0" lvl="0" indent="0" algn="l" rtl="0">
                <a:lnSpc>
                  <a:spcPct val="100000"/>
                </a:lnSpc>
                <a:buNone/>
              </a:pPr>
              <a:r>
                <a:rPr lang="pt-BR" sz="1300" b="0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Registros no dataset inicial</a:t>
              </a:r>
            </a:p>
          </p:txBody>
        </p:sp>
        <p:sp>
          <p:nvSpPr>
            <p:cNvPr id="204" name="Stat 2"/>
            <p:cNvSpPr txBox="1"/>
            <p:nvPr/>
          </p:nvSpPr>
          <p:spPr>
            <a:xfrm>
              <a:off x="6950000" y="3320000"/>
              <a:ext cx="4350000" cy="7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buNone/>
              </a:pPr>
              <a:r>
                <a:rPr lang="pt-BR" sz="2800" b="0" i="0" u="none" strike="noStrike" cap="none">
                  <a:solidFill>
                    <a:srgbClr val="F472B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+</a:t>
              </a:r>
              <a:r>
                <a:rPr lang="pt-BR" sz="2800">
                  <a:solidFill>
                    <a:srgbClr val="F472B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7.000</a:t>
              </a:r>
              <a:endParaRPr lang="pt-BR" sz="2800" b="0" i="0" u="none" strike="noStrike" cap="none">
                <a:solidFill>
                  <a:srgbClr val="F472B6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marL="0" marR="0" lvl="0" indent="0" algn="l" rtl="0">
                <a:lnSpc>
                  <a:spcPct val="100000"/>
                </a:lnSpc>
                <a:buNone/>
              </a:pPr>
              <a:r>
                <a:rPr lang="pt-BR" sz="1300" b="0" i="0" u="none" strike="noStrike" cap="none" dirty="0" err="1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PDFs</a:t>
              </a:r>
              <a:r>
                <a:rPr lang="pt-BR" sz="1300" b="0" i="0" u="none" strike="noStrike" cap="none" dirty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baixados</a:t>
              </a:r>
              <a:endParaRPr lang="pt-BR" sz="13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5" name="Stat 3"/>
            <p:cNvSpPr txBox="1"/>
            <p:nvPr/>
          </p:nvSpPr>
          <p:spPr>
            <a:xfrm>
              <a:off x="6950000" y="4160000"/>
              <a:ext cx="4350000" cy="7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buNone/>
              </a:pPr>
              <a:r>
                <a:rPr lang="pt-BR" sz="2800">
                  <a:solidFill>
                    <a:srgbClr val="34D39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+5</a:t>
              </a:r>
              <a:r>
                <a:rPr lang="pt-BR" sz="2800" b="0" i="0" u="none" strike="noStrike" cap="none">
                  <a:solidFill>
                    <a:srgbClr val="34D39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dias</a:t>
              </a:r>
            </a:p>
            <a:p>
              <a:pPr marL="0" marR="0" lvl="0" indent="0" algn="l" rtl="0">
                <a:lnSpc>
                  <a:spcPct val="100000"/>
                </a:lnSpc>
                <a:buNone/>
              </a:pPr>
              <a:r>
                <a:rPr lang="pt-BR" sz="1300" b="0" i="0" u="none" strike="noStrike" cap="none" dirty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Leitura dos </a:t>
              </a:r>
              <a:r>
                <a:rPr lang="pt-BR" sz="1300" b="0" i="0" u="none" strike="noStrike" cap="none" dirty="0" err="1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PDFs</a:t>
              </a:r>
              <a:r>
                <a:rPr lang="pt-BR" sz="1300" b="0" i="0" u="none" strike="noStrike" cap="none" dirty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com </a:t>
              </a:r>
              <a:r>
                <a:rPr lang="pt-BR" sz="1300" b="0" i="0" u="none" strike="noStrike" cap="none" dirty="0" err="1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Tesseract</a:t>
              </a:r>
              <a:r>
                <a:rPr lang="pt-BR" sz="1300" b="0" i="0" u="none" strike="noStrike" cap="none" dirty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OCR</a:t>
              </a:r>
              <a:endParaRPr lang="pt-BR" sz="13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Stat 4"/>
            <p:cNvSpPr txBox="1"/>
            <p:nvPr/>
          </p:nvSpPr>
          <p:spPr>
            <a:xfrm>
              <a:off x="6950000" y="5000000"/>
              <a:ext cx="4350000" cy="7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buNone/>
              </a:pPr>
              <a:r>
                <a:rPr lang="pt-BR" sz="2800" b="0" i="0" u="none" strike="noStrike" cap="none">
                  <a:solidFill>
                    <a:srgbClr val="FBBF24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+</a:t>
              </a:r>
              <a:r>
                <a:rPr lang="pt-BR" sz="2800">
                  <a:solidFill>
                    <a:srgbClr val="FBBF24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20h</a:t>
              </a:r>
              <a:endParaRPr lang="pt-BR" sz="2800" b="0" i="0" u="none" strike="noStrike" cap="non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marL="0" marR="0" lvl="0" indent="0" algn="l" rtl="0">
                <a:lnSpc>
                  <a:spcPct val="100000"/>
                </a:lnSpc>
                <a:buNone/>
              </a:pPr>
              <a:r>
                <a:rPr lang="pt-BR" sz="1300" b="0" i="0" u="none" strike="noStrike" cap="none" dirty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Tratamento do </a:t>
              </a:r>
              <a:r>
                <a:rPr lang="pt-BR" sz="1300" b="0" i="0" u="none" strike="noStrike" cap="none" dirty="0" err="1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dataset</a:t>
              </a:r>
              <a:endParaRPr lang="pt-BR" sz="13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653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 txBox="1"/>
          <p:nvPr/>
        </p:nvSpPr>
        <p:spPr>
          <a:xfrm>
            <a:off x="771525" y="581025"/>
            <a:ext cx="510620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Necessidade de Estratificação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81025" y="581025"/>
            <a:ext cx="57150" cy="123825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766640" y="2268660"/>
            <a:ext cx="105567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Assimetria Massiva nos Dados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766640" y="2868735"/>
            <a:ext cx="1055649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Durante a Análise Exploratória (EDA), identificamos uma assimetria financeira massiva. Os cachês variavam de pequenos valores locais a milhões de reais. Um único modelo global seria incapaz de capturar a realidade sem sofrer distorções.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766640" y="4856760"/>
            <a:ext cx="1055679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Solução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Metodológica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Dividir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base de dados original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três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variantes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distintas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(G1, G2 e G3),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agrupadas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perfeitamente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pela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variável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Categoria_Id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garantindo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cada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aprendesse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padrões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específicos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mercado.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Pre-filter Banner">
            <a:extLst>
              <a:ext uri="{FF2B5EF4-FFF2-40B4-BE49-F238E27FC236}">
                <a16:creationId xmlns:a16="http://schemas.microsoft.com/office/drawing/2014/main" id="{8994498C-99DB-8518-7056-54AC5E27DB70}"/>
              </a:ext>
            </a:extLst>
          </p:cNvPr>
          <p:cNvSpPr txBox="1"/>
          <p:nvPr/>
        </p:nvSpPr>
        <p:spPr>
          <a:xfrm>
            <a:off x="776410" y="4288693"/>
            <a:ext cx="10062796" cy="310462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spcFirstLastPara="1" wrap="square" lIns="137160" tIns="0" rIns="13716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buNone/>
            </a:pPr>
            <a:r>
              <a:rPr lang="pt-BR" sz="1150" b="1" i="0" u="none" strike="noStrike" cap="none" dirty="0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PRÉ-FILTRO  ·  </a:t>
            </a:r>
            <a:r>
              <a:rPr lang="pt-BR" sz="11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Treinamos apenas com </a:t>
            </a:r>
            <a:r>
              <a:rPr lang="pt-BR" sz="11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Shows Musicais</a:t>
            </a:r>
            <a:r>
              <a:rPr lang="pt-BR" sz="11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(~</a:t>
            </a:r>
            <a:r>
              <a:rPr lang="pt-BR" sz="11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r>
              <a:rPr lang="pt-BR" sz="11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% do </a:t>
            </a:r>
            <a:r>
              <a:rPr lang="pt-BR" sz="11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dataset</a:t>
            </a:r>
            <a:r>
              <a:rPr lang="pt-BR" sz="11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inicial), pela pluralidade de eventos com custos muito distintos.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53629"/>
            <a:ext cx="3486150" cy="455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653629"/>
            <a:ext cx="3486150" cy="455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653629"/>
            <a:ext cx="3486150" cy="455086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876300" y="2634704"/>
            <a:ext cx="30403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G1: Pequenos Artistas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876299" y="3645554"/>
            <a:ext cx="23285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Faixa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Até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R$ 9.999,99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876300" y="4093225"/>
            <a:ext cx="225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Registros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3.947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876300" y="4540904"/>
            <a:ext cx="24733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Média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R$ 5.092,47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641839" y="5327630"/>
            <a:ext cx="3276599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grande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massa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contratações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eventos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locais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menor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porte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648200" y="2634702"/>
            <a:ext cx="304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G2: Artistas Médios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4648199" y="3622237"/>
            <a:ext cx="28764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Faixa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R$ 10k a R$ 49.999,99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4648199" y="4093228"/>
            <a:ext cx="2258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Registros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1.531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4648200" y="4564219"/>
            <a:ext cx="21876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Média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R$ 24.565,16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4423508" y="5328081"/>
            <a:ext cx="3100754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Profissionais com maior reconhecimento regional e estrutura média.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8420100" y="2634704"/>
            <a:ext cx="294036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G3: Super Artistas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8477175" y="3682454"/>
            <a:ext cx="2181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Faixa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Acima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R$ 50k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8477175" y="4130125"/>
            <a:ext cx="241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Registros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1.153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8477175" y="4577800"/>
            <a:ext cx="2667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Média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R$ 105.069,68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8214947" y="5327630"/>
            <a:ext cx="3305907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Grandes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atrações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mídia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com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cachês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atingindo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até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R$ 2.000.000,00.</a:t>
            </a:r>
            <a:endParaRPr sz="12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015579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01557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015579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Mapeamento dos Grupos (G1 a G3)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109662"/>
            <a:ext cx="5276850" cy="563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109662"/>
            <a:ext cx="5276850" cy="56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 txBox="1"/>
          <p:nvPr/>
        </p:nvSpPr>
        <p:spPr>
          <a:xfrm>
            <a:off x="971550" y="150018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Feature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6724650" y="150018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Arquitetura Técnica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771525" y="109537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Pipeline de Transformação (ETL &amp; FE)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81025" y="109537"/>
            <a:ext cx="57150" cy="619125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B23259-C55E-2D60-F8A0-29AF096B7ADB}"/>
              </a:ext>
            </a:extLst>
          </p:cNvPr>
          <p:cNvSpPr txBox="1"/>
          <p:nvPr/>
        </p:nvSpPr>
        <p:spPr>
          <a:xfrm>
            <a:off x="6726115" y="2513134"/>
            <a:ext cx="4392083" cy="30931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500" dirty="0">
                <a:solidFill>
                  <a:srgbClr val="CBD5E1"/>
                </a:solidFill>
                <a:latin typeface="Inter"/>
                <a:ea typeface="Inter"/>
              </a:rPr>
              <a:t>Código: construído em Python e estruturado dentro do Notebook(</a:t>
            </a:r>
            <a:r>
              <a:rPr lang="pt-BR" sz="1500" dirty="0" err="1">
                <a:solidFill>
                  <a:srgbClr val="CBD5E1"/>
                </a:solidFill>
                <a:latin typeface="Inter"/>
                <a:ea typeface="Inter"/>
              </a:rPr>
              <a:t>Jupyter</a:t>
            </a:r>
            <a:r>
              <a:rPr lang="pt-BR" sz="1500" dirty="0">
                <a:solidFill>
                  <a:srgbClr val="CBD5E1"/>
                </a:solidFill>
                <a:latin typeface="Inter"/>
                <a:ea typeface="Inter"/>
              </a:rPr>
              <a:t>) para facilitar a execução e análise do mesmo.</a:t>
            </a:r>
            <a:endParaRPr lang="pt-BR"/>
          </a:p>
          <a:p>
            <a:endParaRPr lang="pt-BR" sz="1500" dirty="0">
              <a:solidFill>
                <a:srgbClr val="CBD5E1"/>
              </a:solidFill>
              <a:latin typeface="Inter"/>
              <a:ea typeface="Inter"/>
            </a:endParaRPr>
          </a:p>
          <a:p>
            <a:endParaRPr lang="pt-BR" sz="1500" dirty="0">
              <a:solidFill>
                <a:srgbClr val="CBD5E1"/>
              </a:solidFill>
              <a:latin typeface="Inter"/>
              <a:ea typeface="Inter"/>
            </a:endParaRPr>
          </a:p>
          <a:p>
            <a:r>
              <a:rPr lang="pt-BR" sz="1500" dirty="0">
                <a:solidFill>
                  <a:srgbClr val="CBD5E1"/>
                </a:solidFill>
                <a:latin typeface="Inter"/>
                <a:ea typeface="Inter"/>
              </a:rPr>
              <a:t>Núcleo matemático construído inteiramente sobre </a:t>
            </a:r>
            <a:r>
              <a:rPr lang="pt-BR" sz="1500" dirty="0" err="1">
                <a:solidFill>
                  <a:srgbClr val="CBD5E1"/>
                </a:solidFill>
                <a:latin typeface="Inter"/>
                <a:ea typeface="Inter"/>
              </a:rPr>
              <a:t>scikit-learn</a:t>
            </a:r>
            <a:r>
              <a:rPr lang="pt-BR" sz="1500" dirty="0">
                <a:solidFill>
                  <a:srgbClr val="CBD5E1"/>
                </a:solidFill>
                <a:latin typeface="Inter"/>
                <a:ea typeface="Inter"/>
              </a:rPr>
              <a:t>. </a:t>
            </a:r>
          </a:p>
          <a:p>
            <a:endParaRPr lang="pt-BR" sz="1500" dirty="0">
              <a:solidFill>
                <a:srgbClr val="CBD5E1"/>
              </a:solidFill>
              <a:latin typeface="Inter"/>
              <a:ea typeface="Inter"/>
            </a:endParaRPr>
          </a:p>
          <a:p>
            <a:endParaRPr lang="pt-BR" sz="1500" dirty="0">
              <a:solidFill>
                <a:srgbClr val="CBD5E1"/>
              </a:solidFill>
              <a:latin typeface="Inter"/>
              <a:ea typeface="Inter"/>
            </a:endParaRPr>
          </a:p>
          <a:p>
            <a:r>
              <a:rPr lang="pt-BR" sz="1500" dirty="0">
                <a:solidFill>
                  <a:srgbClr val="CBD5E1"/>
                </a:solidFill>
                <a:latin typeface="Inter"/>
                <a:ea typeface="Inter"/>
              </a:rPr>
              <a:t>Otimização de </a:t>
            </a:r>
            <a:r>
              <a:rPr lang="pt-BR" sz="1500" dirty="0" err="1">
                <a:solidFill>
                  <a:srgbClr val="CBD5E1"/>
                </a:solidFill>
                <a:latin typeface="Inter"/>
                <a:ea typeface="Inter"/>
              </a:rPr>
              <a:t>Encoding</a:t>
            </a:r>
            <a:r>
              <a:rPr lang="pt-BR" sz="1500" dirty="0">
                <a:solidFill>
                  <a:srgbClr val="CBD5E1"/>
                </a:solidFill>
                <a:latin typeface="Inter"/>
                <a:ea typeface="Inter"/>
              </a:rPr>
              <a:t>: Scripts auxiliares (_executar_notebook.py) para forçar codificação UTF-8, evitando </a:t>
            </a:r>
            <a:r>
              <a:rPr lang="pt-BR" sz="1500" dirty="0" err="1">
                <a:solidFill>
                  <a:srgbClr val="CBD5E1"/>
                </a:solidFill>
                <a:latin typeface="Inter"/>
                <a:ea typeface="Inter"/>
              </a:rPr>
              <a:t>mojibake</a:t>
            </a:r>
            <a:r>
              <a:rPr lang="pt-BR" sz="1500" dirty="0">
                <a:solidFill>
                  <a:srgbClr val="CBD5E1"/>
                </a:solidFill>
                <a:latin typeface="Inter"/>
                <a:ea typeface="Inter"/>
              </a:rPr>
              <a:t> fatal no Windows com textos como "Região".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8B4FEE0-CF2A-6654-F59C-8E706FBB0659}"/>
              </a:ext>
            </a:extLst>
          </p:cNvPr>
          <p:cNvSpPr txBox="1"/>
          <p:nvPr/>
        </p:nvSpPr>
        <p:spPr>
          <a:xfrm>
            <a:off x="972037" y="2513134"/>
            <a:ext cx="4392083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500">
                <a:solidFill>
                  <a:srgbClr val="CBD5E1"/>
                </a:solidFill>
                <a:ea typeface="Inter"/>
              </a:rPr>
              <a:t>Garantimos um tratamento rigoroso e perfeitamente simétrico nas 3 bases para uma comparação justa de modelos (41 features finais). </a:t>
            </a:r>
            <a:endParaRPr lang="pt-BR"/>
          </a:p>
          <a:p>
            <a:endParaRPr lang="pt-BR" sz="1500" dirty="0">
              <a:solidFill>
                <a:srgbClr val="CBD5E1"/>
              </a:solidFill>
              <a:ea typeface="Inter"/>
            </a:endParaRPr>
          </a:p>
          <a:p>
            <a:r>
              <a:rPr lang="pt-BR" sz="1500" dirty="0">
                <a:solidFill>
                  <a:srgbClr val="CBD5E1"/>
                </a:solidFill>
                <a:ea typeface="Inter"/>
              </a:rPr>
              <a:t>Target </a:t>
            </a:r>
            <a:r>
              <a:rPr lang="pt-BR" sz="1500" dirty="0" err="1">
                <a:solidFill>
                  <a:srgbClr val="CBD5E1"/>
                </a:solidFill>
                <a:ea typeface="Inter"/>
              </a:rPr>
              <a:t>Encoding</a:t>
            </a:r>
            <a:r>
              <a:rPr lang="pt-BR" sz="1500" dirty="0">
                <a:solidFill>
                  <a:srgbClr val="CBD5E1"/>
                </a:solidFill>
                <a:ea typeface="Inter"/>
              </a:rPr>
              <a:t>: Aplicado no </a:t>
            </a:r>
            <a:r>
              <a:rPr lang="pt-BR" sz="1500" dirty="0" err="1">
                <a:solidFill>
                  <a:srgbClr val="CBD5E1"/>
                </a:solidFill>
                <a:ea typeface="Inter"/>
              </a:rPr>
              <a:t>Fornecedor_Id</a:t>
            </a:r>
            <a:r>
              <a:rPr lang="pt-BR" sz="1500" dirty="0">
                <a:solidFill>
                  <a:srgbClr val="CBD5E1"/>
                </a:solidFill>
                <a:ea typeface="Inter"/>
              </a:rPr>
              <a:t> para traduzir o histórico sem inflar a dimensionalidade. </a:t>
            </a:r>
            <a:endParaRPr lang="pt-BR" dirty="0"/>
          </a:p>
          <a:p>
            <a:endParaRPr lang="pt-BR" sz="1500" dirty="0">
              <a:solidFill>
                <a:srgbClr val="CBD5E1"/>
              </a:solidFill>
              <a:latin typeface="Inter"/>
              <a:ea typeface="Inter"/>
            </a:endParaRPr>
          </a:p>
          <a:p>
            <a:r>
              <a:rPr lang="pt-BR" sz="1500" dirty="0" err="1">
                <a:solidFill>
                  <a:srgbClr val="CBD5E1"/>
                </a:solidFill>
                <a:ea typeface="Inter"/>
              </a:rPr>
              <a:t>One</a:t>
            </a:r>
            <a:r>
              <a:rPr lang="pt-BR" sz="1500" dirty="0">
                <a:solidFill>
                  <a:srgbClr val="CBD5E1"/>
                </a:solidFill>
                <a:ea typeface="Inter"/>
              </a:rPr>
              <a:t>-Hot </a:t>
            </a:r>
            <a:r>
              <a:rPr lang="pt-BR" sz="1500" dirty="0" err="1">
                <a:solidFill>
                  <a:srgbClr val="CBD5E1"/>
                </a:solidFill>
                <a:ea typeface="Inter"/>
              </a:rPr>
              <a:t>Encoding</a:t>
            </a:r>
            <a:r>
              <a:rPr lang="pt-BR" sz="1500" dirty="0">
                <a:solidFill>
                  <a:srgbClr val="CBD5E1"/>
                </a:solidFill>
                <a:ea typeface="Inter"/>
              </a:rPr>
              <a:t>: Espacialização das variáveis categóricas geográficas (</a:t>
            </a:r>
            <a:r>
              <a:rPr lang="pt-BR" sz="1500" dirty="0" err="1">
                <a:solidFill>
                  <a:srgbClr val="CBD5E1"/>
                </a:solidFill>
                <a:ea typeface="Inter"/>
              </a:rPr>
              <a:t>Regiao_Id</a:t>
            </a:r>
            <a:r>
              <a:rPr lang="pt-BR" sz="1500" dirty="0">
                <a:solidFill>
                  <a:srgbClr val="CBD5E1"/>
                </a:solidFill>
                <a:ea typeface="Inter"/>
              </a:rPr>
              <a:t> e </a:t>
            </a:r>
            <a:r>
              <a:rPr lang="pt-BR" sz="1500" dirty="0" err="1">
                <a:solidFill>
                  <a:srgbClr val="CBD5E1"/>
                </a:solidFill>
                <a:ea typeface="Inter"/>
              </a:rPr>
              <a:t>Zona_Id</a:t>
            </a:r>
            <a:r>
              <a:rPr lang="pt-BR" sz="1500" dirty="0">
                <a:solidFill>
                  <a:srgbClr val="CBD5E1"/>
                </a:solidFill>
                <a:ea typeface="Inter"/>
              </a:rPr>
              <a:t>). </a:t>
            </a:r>
            <a:endParaRPr lang="pt-BR" dirty="0"/>
          </a:p>
          <a:p>
            <a:endParaRPr lang="pt-BR" sz="1500" dirty="0">
              <a:solidFill>
                <a:srgbClr val="CBD5E1"/>
              </a:solidFill>
              <a:latin typeface="Inter"/>
              <a:ea typeface="Inter"/>
            </a:endParaRPr>
          </a:p>
          <a:p>
            <a:r>
              <a:rPr lang="pt-BR" sz="1500" dirty="0" err="1">
                <a:solidFill>
                  <a:srgbClr val="CBD5E1"/>
                </a:solidFill>
                <a:ea typeface="Inter"/>
              </a:rPr>
              <a:t>StandardScaler</a:t>
            </a:r>
            <a:r>
              <a:rPr lang="pt-BR" sz="1500" dirty="0">
                <a:solidFill>
                  <a:srgbClr val="CBD5E1"/>
                </a:solidFill>
                <a:ea typeface="Inter"/>
              </a:rPr>
              <a:t>: Padronização para otimizar o gradiente na Regressão. </a:t>
            </a:r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76512"/>
            <a:ext cx="11029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 txBox="1"/>
          <p:nvPr/>
        </p:nvSpPr>
        <p:spPr>
          <a:xfrm>
            <a:off x="581025" y="1681162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Coeficiente de Determinação (R²) demonstra claramente o limite da Regressão Linear conforme a variância aumenta entre os grupos.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8" name="Google Shape;168;p6"/>
          <p:cNvGraphicFramePr/>
          <p:nvPr>
            <p:extLst>
              <p:ext uri="{D42A27DB-BD31-4B8C-83A1-F6EECF244321}">
                <p14:modId xmlns:p14="http://schemas.microsoft.com/office/powerpoint/2010/main" val="3002464124"/>
              </p:ext>
            </p:extLst>
          </p:nvPr>
        </p:nvGraphicFramePr>
        <p:xfrm>
          <a:off x="685800" y="2681287"/>
          <a:ext cx="10820400" cy="3390900"/>
        </p:xfrm>
        <a:graphic>
          <a:graphicData uri="http://schemas.openxmlformats.org/drawingml/2006/table">
            <a:tbl>
              <a:tblPr firstRow="1" bandRow="1">
                <a:noFill/>
                <a:tableStyleId>{83BD5031-42F1-43A0-AFC4-8124C9BB6F01}</a:tableStyleId>
              </a:tblPr>
              <a:tblGrid>
                <a:gridCol w="245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2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7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dk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Variante</a:t>
                      </a: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/ </a:t>
                      </a:r>
                      <a:r>
                        <a:rPr lang="en-US" sz="1500" b="0" i="0" u="none" strike="noStrike" cap="none" dirty="0" err="1">
                          <a:solidFill>
                            <a:schemeClr val="dk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Perfil</a:t>
                      </a:r>
                      <a:endParaRPr sz="1400" u="none" strike="noStrike" cap="none" dirty="0" err="1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dk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Cachê</a:t>
                      </a: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dk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Médio</a:t>
                      </a: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(R$)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R² (</a:t>
                      </a:r>
                      <a:r>
                        <a:rPr lang="en-US" sz="1500" b="0" i="0" u="none" strike="noStrike" cap="none" dirty="0" err="1">
                          <a:solidFill>
                            <a:schemeClr val="dk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Treino</a:t>
                      </a: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)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R² (Teste)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dk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Diagnóstico</a:t>
                      </a: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do Modelo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i="0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G1</a:t>
                      </a:r>
                      <a:r>
                        <a:rPr lang="en-US" sz="1500" b="0" i="0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 - </a:t>
                      </a:r>
                      <a:r>
                        <a:rPr lang="en-US" sz="1500" b="0" i="0" u="none" strike="noStrike" cap="none" dirty="0" err="1">
                          <a:latin typeface="Inter"/>
                          <a:ea typeface="Inter"/>
                          <a:cs typeface="Inter"/>
                          <a:sym typeface="Inter"/>
                        </a:rPr>
                        <a:t>Pequenos</a:t>
                      </a:r>
                      <a:r>
                        <a:rPr lang="en-US" sz="1500" b="0" i="0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 Artistas</a:t>
                      </a:r>
                      <a:endParaRPr sz="1400" u="none" strike="noStrike" cap="none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5.092,47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0.4471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2C5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0.2615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 dirty="0">
                          <a:latin typeface="Inter"/>
                          <a:ea typeface="Inter"/>
                          <a:cs typeface="Inter"/>
                        </a:rPr>
                        <a:t>Modelo </a:t>
                      </a:r>
                      <a:r>
                        <a:rPr lang="en-US" sz="1500" b="0" i="0" u="none" strike="noStrike" cap="none" dirty="0" err="1">
                          <a:latin typeface="Inter"/>
                          <a:ea typeface="Inter"/>
                          <a:cs typeface="Inter"/>
                        </a:rPr>
                        <a:t>não</a:t>
                      </a:r>
                      <a:r>
                        <a:rPr lang="en-US" sz="1500" b="0" i="0" u="none" strike="noStrike" cap="none" dirty="0"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latin typeface="Inter"/>
                          <a:ea typeface="Inter"/>
                          <a:cs typeface="Inter"/>
                        </a:rPr>
                        <a:t>generalizar</a:t>
                      </a:r>
                      <a:r>
                        <a:rPr lang="en-US" sz="1500" b="0" i="0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sz="1400" u="none" strike="noStrike" cap="none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i="0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G2</a:t>
                      </a:r>
                      <a:r>
                        <a:rPr lang="en-US" sz="1500" b="0" i="0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 - Artistas </a:t>
                      </a:r>
                      <a:r>
                        <a:rPr lang="en-US" sz="1500" b="0" i="0" u="none" strike="noStrike" cap="none" dirty="0" err="1">
                          <a:latin typeface="Inter"/>
                          <a:ea typeface="Inter"/>
                          <a:cs typeface="Inter"/>
                          <a:sym typeface="Inter"/>
                        </a:rPr>
                        <a:t>Médios</a:t>
                      </a:r>
                      <a:endParaRPr sz="1400" u="none" strike="noStrike" cap="none" dirty="0" err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24.565,16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0.4857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59E0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0.0973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Overfitting </a:t>
                      </a:r>
                      <a:r>
                        <a:rPr lang="en-US" sz="1500" b="0" i="0" u="none" strike="noStrike" cap="none" dirty="0" err="1">
                          <a:latin typeface="Inter"/>
                          <a:ea typeface="Inter"/>
                          <a:cs typeface="Inter"/>
                          <a:sym typeface="Inter"/>
                        </a:rPr>
                        <a:t>severo</a:t>
                      </a:r>
                      <a:r>
                        <a:rPr lang="en-US" sz="1500" b="0" i="0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sz="1400" u="none" strike="noStrike" cap="none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G3</a:t>
                      </a:r>
                      <a:r>
                        <a:rPr lang="en-US" sz="150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 - Super Artistas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105.069,68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0.4705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-0.0737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 dirty="0" err="1">
                          <a:latin typeface="Inter"/>
                          <a:ea typeface="Inter"/>
                          <a:cs typeface="Inter"/>
                          <a:sym typeface="Inter"/>
                        </a:rPr>
                        <a:t>Colapso</a:t>
                      </a:r>
                      <a:r>
                        <a:rPr lang="en-US" sz="1500" b="0" i="0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latin typeface="Inter"/>
                          <a:ea typeface="Inter"/>
                          <a:cs typeface="Inter"/>
                          <a:sym typeface="Inter"/>
                        </a:rPr>
                        <a:t>completo</a:t>
                      </a:r>
                      <a:r>
                        <a:rPr lang="en-US" sz="1500" b="0" i="0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 do </a:t>
                      </a:r>
                      <a:r>
                        <a:rPr lang="en-US" sz="1500" b="0" i="0" u="none" strike="noStrike" cap="none" dirty="0" err="1">
                          <a:latin typeface="Inter"/>
                          <a:ea typeface="Inter"/>
                          <a:cs typeface="Inter"/>
                          <a:sym typeface="Inter"/>
                        </a:rPr>
                        <a:t>preditor</a:t>
                      </a:r>
                      <a:r>
                        <a:rPr lang="en-US" sz="1500" b="0" i="0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sz="1400" u="none" strike="noStrike" cap="none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" name="Google Shape;169;p6"/>
          <p:cNvSpPr/>
          <p:nvPr/>
        </p:nvSpPr>
        <p:spPr>
          <a:xfrm>
            <a:off x="685800" y="3522545"/>
            <a:ext cx="2452200" cy="19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138041" y="3522545"/>
            <a:ext cx="2146200" cy="19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284291" y="3522545"/>
            <a:ext cx="1473300" cy="19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757689" y="3522545"/>
            <a:ext cx="1416300" cy="19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173938" y="3522545"/>
            <a:ext cx="3332400" cy="19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85800" y="4382463"/>
            <a:ext cx="2452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138041" y="4382463"/>
            <a:ext cx="2146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284291" y="4382463"/>
            <a:ext cx="1473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757689" y="4382463"/>
            <a:ext cx="1416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173938" y="4382463"/>
            <a:ext cx="3332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85800" y="5242748"/>
            <a:ext cx="2452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138041" y="5242748"/>
            <a:ext cx="2146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284291" y="5242748"/>
            <a:ext cx="1473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757689" y="5242748"/>
            <a:ext cx="1416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8173938" y="5242748"/>
            <a:ext cx="3332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Comparativo de Desempenho (Métrica R²)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81150"/>
            <a:ext cx="1102995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/>
        </p:nvSpPr>
        <p:spPr>
          <a:xfrm>
            <a:off x="581025" y="4895850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gráfico ilustra a perda de poder preditivo (diferença absoluta entre R² de Treino e Teste). No G3, a queda é tão dramática que o modelo perde qualquer utilidade prática para o negócio.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Queda de Performance (Treino vs Teste)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05275"/>
            <a:ext cx="52768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8"/>
          <p:cNvSpPr txBox="1"/>
          <p:nvPr/>
        </p:nvSpPr>
        <p:spPr>
          <a:xfrm>
            <a:off x="581025" y="2114550"/>
            <a:ext cx="52768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0"/>
              <a:buFont typeface="Arial"/>
              <a:buNone/>
            </a:pPr>
            <a:r>
              <a:rPr lang="en-US" sz="9750" b="1" i="0" u="none" strike="noStrike" cap="none">
                <a:solidFill>
                  <a:srgbClr val="F472B6"/>
                </a:solidFill>
                <a:latin typeface="Poppins"/>
                <a:ea typeface="Poppins"/>
                <a:cs typeface="Poppins"/>
                <a:sym typeface="Poppins"/>
              </a:rPr>
              <a:t>-0.07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581025" y="3448050"/>
            <a:ext cx="52768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R² Obtido no Teste (G3)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6334125" y="2114550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Por que o modelo quebrou?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6334125" y="2714625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Um valor de R² negativo indica matematicamente que utilizar a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média simples de cachês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do grupo G3 resultaria em uma previsão melhor do que utilizar nosso modelo de Machine Learning.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6334125" y="4207200"/>
            <a:ext cx="52770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imensa variabilidade (cachês saltando de 50 mil para 2 milhões) e fatores não lineares ocultos, como a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"fama do artista"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no momento, época de eleições ou feriados, não conseguem ser modelados por regressões lineares clássicas baseadas apenas em região e mês.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581025" y="4305300"/>
            <a:ext cx="52768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ERRO MÉDIO ABSOLUTO (MAE)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581025" y="4495800"/>
            <a:ext cx="52768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R$ 47.612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Anatomia do Colapso no Grupo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 txBox="1"/>
          <p:nvPr/>
        </p:nvSpPr>
        <p:spPr>
          <a:xfrm>
            <a:off x="771518" y="1747975"/>
            <a:ext cx="554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"Quem" importa mais que o "Onde"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771532" y="2805250"/>
            <a:ext cx="10178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Ao extrair e analisar os coeficientes (pesos) atribuídos pela Regressão Linear, descobrimos que a feature Fornecedor_Id_te (Target Encoding do fornecedor) dominou absolutamente o modelo.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771531" y="3944860"/>
            <a:ext cx="9699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Isso prova matematicamente que a identidade da produtora ou artista dita o preço do cachê de forma muito mais agressiva do que a geografia (Zonas e Regiões) ou até mesmo o período do ano da contratação.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Análise de Importância das Features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38300"/>
            <a:ext cx="3486150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638300"/>
            <a:ext cx="3486150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638300"/>
            <a:ext cx="3486150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0"/>
          <p:cNvSpPr txBox="1"/>
          <p:nvPr/>
        </p:nvSpPr>
        <p:spPr>
          <a:xfrm>
            <a:off x="876300" y="2590800"/>
            <a:ext cx="30403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Valor da Estratificação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876300" y="3648075"/>
            <a:ext cx="28956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decisão de separar a base foi crítica. Se tivéssemos treinado um modelo único global, o erro monumental e os outliers do grupo G3 destruiriam as previsões aceitáveis das classes G1 e G2.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4648200" y="2590800"/>
            <a:ext cx="243030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Limite Linear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4648200" y="3190875"/>
            <a:ext cx="28956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Regressão Linear comporta-se bem em faixas financeiras restritas (G1), mas sofre colapso lógico em dados abertos que são inflacionados por outliers de percepção de mercado (G3).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8420100" y="2590800"/>
            <a:ext cx="30403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Evolução do Modelo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8420100" y="3648075"/>
            <a:ext cx="2895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Para as próximas iterações do pipeline, é mandatória a substituição por algoritmos não-lineares e baseados em árvores, tais como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XGBoost, Random Forest ou LightGBM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1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197167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19716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19716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0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Conclusões e Próximos Passos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57312" y="4521398"/>
            <a:ext cx="225742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00487" y="4521398"/>
            <a:ext cx="22098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6037" y="4521398"/>
            <a:ext cx="21717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53487" y="4521398"/>
            <a:ext cx="19812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 txBox="1"/>
          <p:nvPr/>
        </p:nvSpPr>
        <p:spPr>
          <a:xfrm>
            <a:off x="305276" y="1831627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Muito Obrigado!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 txBox="1"/>
          <p:nvPr/>
        </p:nvSpPr>
        <p:spPr>
          <a:xfrm>
            <a:off x="581025" y="3165127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Agradecemos aos professores orientadores pelo suporte.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 txBox="1"/>
          <p:nvPr/>
        </p:nvSpPr>
        <p:spPr>
          <a:xfrm>
            <a:off x="581025" y="3911798"/>
            <a:ext cx="11029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Projeto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Integrador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 - Modelo de Machine Learning 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PUC-SP</a:t>
            </a:r>
            <a:endParaRPr lang="pt-BR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51" name="Google Shape;251;p1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52587" y="4692848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95762" y="4692848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91312" y="4692848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48762" y="4692848"/>
            <a:ext cx="152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FDBB4D54BE0EA41B9AC1D232018AA1F" ma:contentTypeVersion="10" ma:contentTypeDescription="Crie um novo documento." ma:contentTypeScope="" ma:versionID="60b7c119bbb57f7c54c360a4341c7cb6">
  <xsd:schema xmlns:xsd="http://www.w3.org/2001/XMLSchema" xmlns:xs="http://www.w3.org/2001/XMLSchema" xmlns:p="http://schemas.microsoft.com/office/2006/metadata/properties" xmlns:ns2="f430a093-41e3-428d-8852-b249bfd16af6" xmlns:ns3="9618deb1-18cf-4091-b015-1d47e43aa07b" targetNamespace="http://schemas.microsoft.com/office/2006/metadata/properties" ma:root="true" ma:fieldsID="52e639fff4e84544a13319e8465e3375" ns2:_="" ns3:_="">
    <xsd:import namespace="f430a093-41e3-428d-8852-b249bfd16af6"/>
    <xsd:import namespace="9618deb1-18cf-4091-b015-1d47e43aa0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30a093-41e3-428d-8852-b249bfd16a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c70c3db4-b6ea-4b73-8f10-c8396f641c8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18deb1-18cf-4091-b015-1d47e43aa07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7564543-6d22-4cc2-a358-a2f812a26171}" ma:internalName="TaxCatchAll" ma:showField="CatchAllData" ma:web="9618deb1-18cf-4091-b015-1d47e43aa0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18deb1-18cf-4091-b015-1d47e43aa07b" xsi:nil="true"/>
    <lcf76f155ced4ddcb4097134ff3c332f xmlns="f430a093-41e3-428d-8852-b249bfd16af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AFED73D-DEF2-4812-AA75-AC6F5E712801}"/>
</file>

<file path=customXml/itemProps2.xml><?xml version="1.0" encoding="utf-8"?>
<ds:datastoreItem xmlns:ds="http://schemas.openxmlformats.org/officeDocument/2006/customXml" ds:itemID="{116AD8D9-FB25-4E38-A7AF-EB2B3703C206}"/>
</file>

<file path=customXml/itemProps3.xml><?xml version="1.0" encoding="utf-8"?>
<ds:datastoreItem xmlns:ds="http://schemas.openxmlformats.org/officeDocument/2006/customXml" ds:itemID="{F264BDA8-860A-4032-B6C0-95C717E59AF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887</Words>
  <Application>Microsoft Office PowerPoint</Application>
  <PresentationFormat>Widescreen</PresentationFormat>
  <Paragraphs>91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Thiago Americo de Lima Moreton</cp:lastModifiedBy>
  <cp:revision>140</cp:revision>
  <dcterms:modified xsi:type="dcterms:W3CDTF">2026-06-17T01:08:24Z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0x010100EFDBB4D54BE0EA41B9AC1D232018AA1F</vt:lpwstr>
  </property>
</Properties>
</file>